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iIuQw8cn8mnvN5G2gzMOhsjNcb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Customer Gender Distribution: </a:t>
            </a: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 pie chart highlights the gender segmentation of the customer base. Understanding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demographic composition enables targeted marketing and product personalization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strategies.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Interaction Types</a:t>
            </a: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 This visualization examines how customers interact with the platform through actions such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as views, likes, and purchases. It helps identify where users drop off in the engagement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funnel and which interactions dominate user behavior.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Gender &amp; Age:</a:t>
            </a: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 analysis compares age groups and their purchasing activity. The results show that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customers aged 25–40 form the most active purchasing segment, which informs targeted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advertisement planning.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Payment Behaviour:</a:t>
            </a: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This visualization reveals how different genders prefer different payment modes. Digital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wallets and credit cards are more popular among certain demographic groups, guiding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checkout optimization strategies.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4" name="Google Shape;17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Category Conversion Rate (Purchases / Views):</a:t>
            </a: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 metric measures how effectively product categories convert user interest (views) into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purchases. High conversion categories signal strong product-market fit or effective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merchandising.Footwear and Outerwear categories show the best conversion from views to purchases.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Average Order Value (AOV) by Payment Method:</a:t>
            </a: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AOV helps reveal customer spending patterns. Digital payment users tend to make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higher-value purchases, suggesting the importance of seamless online payment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infrastructure.Digital and bank-based payments correlate with higher spend per order.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Monthly Purchases for Top Categories: </a:t>
            </a: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 trendline captures seasonal and monthly purchase fluctuations. It helps forecast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demand, optimize stock levels, and plan marketing around high-performing months.Clothing shows stable demand, while Accessories and Outerwear have clear seasonal peaks, especially around promotional periods.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Confusion Matrix – Model Accuracy Assessment:</a:t>
            </a:r>
            <a:endParaRPr b="1"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 visualization evaluates model performance in predicting purchase likelihood. High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diagonal values indicate good classification accuracy, validating the reliability of the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predictive model.The model distinguishes well between purchase and non-purchase classes, with relatively few misclassifications.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E917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Predictive Model – Feature Importance:</a:t>
            </a:r>
            <a:endParaRPr b="1"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 Random Forest model identifies the factors that contribute most to purchase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decisions. Purchase frequency and payment method rank highest, demonstrating the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importance of customer loyalty and preferred payment convenience.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 Random Forest model indicates that frequency of purchases and payment method are the strongest predictors of purchase likelihood.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1" name="Google Shape;26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Correlation Heatmap: </a:t>
            </a: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 heatmap explores the relationships between numerical features. It helps identify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multicollinearity and key behavioral correlations that influence purchases.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Purchase behaviour is moderately correlated with frequency of purchases and age.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4" name="Google Shape;2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5" name="Google Shape;30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Google Shape;34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/>
              <a:t>This comprehensive analysis revealed strong behavioral patterns in consumer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/>
              <a:t>demographics, payment preferences, and purchase activity. The predictive modeling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/>
              <a:t>further identified engagement frequency as the strongest determinant of purchase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/>
              <a:t>likelihood. These insights collectively guide data-driven decision-making for marketing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/>
              <a:t>optimization, inventory planning, and customer retention strategies.</a:t>
            </a:r>
            <a:endParaRPr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000"/>
          </a:p>
        </p:txBody>
      </p:sp>
      <p:sp>
        <p:nvSpPr>
          <p:cNvPr id="343" name="Google Shape;34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6.png"/><Relationship Id="rId6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dk1">
              <a:alpha val="5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" name="Google Shape;87;p1"/>
          <p:cNvGrpSpPr/>
          <p:nvPr/>
        </p:nvGrpSpPr>
        <p:grpSpPr>
          <a:xfrm>
            <a:off x="0" y="2075420"/>
            <a:ext cx="9297047" cy="4440643"/>
            <a:chOff x="1" y="2075420"/>
            <a:chExt cx="12396066" cy="4440643"/>
          </a:xfrm>
        </p:grpSpPr>
        <p:sp>
          <p:nvSpPr>
            <p:cNvPr id="88" name="Google Shape;88;p1"/>
            <p:cNvSpPr/>
            <p:nvPr/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 rot="-5400000">
              <a:off x="10435065" y="4048931"/>
              <a:ext cx="1381607" cy="1381607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2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 rot="-54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rgbClr val="17365D">
                    <a:alpha val="20000"/>
                  </a:srgbClr>
                </a:gs>
                <a:gs pos="100000">
                  <a:srgbClr val="0F243E">
                    <a:alpha val="9803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 rot="-90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rgbClr val="17365D">
                    <a:alpha val="9803"/>
                  </a:srgbClr>
                </a:gs>
                <a:gs pos="100000">
                  <a:srgbClr val="17365D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2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1"/>
          <p:cNvSpPr/>
          <p:nvPr/>
        </p:nvSpPr>
        <p:spPr>
          <a:xfrm rot="-5400000">
            <a:off x="7479052" y="1131512"/>
            <a:ext cx="2796461" cy="533439"/>
          </a:xfrm>
          <a:prstGeom prst="rect">
            <a:avLst/>
          </a:prstGeom>
          <a:gradFill>
            <a:gsLst>
              <a:gs pos="0">
                <a:srgbClr val="8CB3E3">
                  <a:alpha val="0"/>
                </a:srgbClr>
              </a:gs>
              <a:gs pos="100000">
                <a:srgbClr val="17365D">
                  <a:alpha val="9803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" name="Google Shape;95;p1"/>
          <p:cNvGrpSpPr/>
          <p:nvPr/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96" name="Google Shape;96;p1"/>
            <p:cNvCxnSpPr/>
            <p:nvPr/>
          </p:nvCxnSpPr>
          <p:spPr>
            <a:xfrm>
              <a:off x="7029447" y="3514725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97" name="Google Shape;97;p1"/>
            <p:cNvCxnSpPr/>
            <p:nvPr/>
          </p:nvCxnSpPr>
          <p:spPr>
            <a:xfrm>
              <a:off x="7029447" y="3697727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98" name="Google Shape;98;p1"/>
            <p:cNvCxnSpPr/>
            <p:nvPr/>
          </p:nvCxnSpPr>
          <p:spPr>
            <a:xfrm>
              <a:off x="7029447" y="3880729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99" name="Google Shape;99;p1"/>
            <p:cNvCxnSpPr/>
            <p:nvPr/>
          </p:nvCxnSpPr>
          <p:spPr>
            <a:xfrm>
              <a:off x="7029447" y="4063732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100" name="Google Shape;100;p1"/>
          <p:cNvSpPr/>
          <p:nvPr/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>
            <a:gsLst>
              <a:gs pos="0">
                <a:srgbClr val="0F243E">
                  <a:alpha val="9803"/>
                </a:srgbClr>
              </a:gs>
              <a:gs pos="10000">
                <a:srgbClr val="0F243E">
                  <a:alpha val="9803"/>
                </a:srgbClr>
              </a:gs>
              <a:gs pos="100000">
                <a:srgbClr val="538CD5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1" name="Google Shape;101;p1"/>
          <p:cNvGrpSpPr/>
          <p:nvPr/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102" name="Google Shape;102;p1"/>
            <p:cNvCxnSpPr/>
            <p:nvPr/>
          </p:nvCxnSpPr>
          <p:spPr>
            <a:xfrm>
              <a:off x="7029447" y="3514725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03" name="Google Shape;103;p1"/>
            <p:cNvCxnSpPr/>
            <p:nvPr/>
          </p:nvCxnSpPr>
          <p:spPr>
            <a:xfrm>
              <a:off x="7029447" y="3697727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04" name="Google Shape;104;p1"/>
            <p:cNvCxnSpPr/>
            <p:nvPr/>
          </p:nvCxnSpPr>
          <p:spPr>
            <a:xfrm>
              <a:off x="7029447" y="3880729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05" name="Google Shape;105;p1"/>
            <p:cNvCxnSpPr/>
            <p:nvPr/>
          </p:nvCxnSpPr>
          <p:spPr>
            <a:xfrm>
              <a:off x="7029447" y="4063732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pic>
        <p:nvPicPr>
          <p:cNvPr descr="Financial graphs on a dark display" id="106" name="Google Shape;106;p1"/>
          <p:cNvPicPr preferRelativeResize="0"/>
          <p:nvPr/>
        </p:nvPicPr>
        <p:blipFill rotWithShape="1">
          <a:blip r:embed="rId3">
            <a:alphaModFix amt="25000"/>
          </a:blip>
          <a:srcRect b="-2" l="5607" r="11413" t="0"/>
          <a:stretch/>
        </p:blipFill>
        <p:spPr>
          <a:xfrm>
            <a:off x="604127" y="29548"/>
            <a:ext cx="7984208" cy="601384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"/>
          <p:cNvSpPr txBox="1"/>
          <p:nvPr>
            <p:ph type="ctrTitle"/>
          </p:nvPr>
        </p:nvSpPr>
        <p:spPr>
          <a:xfrm>
            <a:off x="1963629" y="630936"/>
            <a:ext cx="5486400" cy="270201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libri"/>
              <a:buNone/>
            </a:pPr>
            <a:r>
              <a:rPr lang="en-US" sz="4200">
                <a:solidFill>
                  <a:schemeClr val="lt1"/>
                </a:solidFill>
              </a:rPr>
              <a:t>E-commerce Sales Analysis &amp; Predictive Modeling (2024 Dataset)</a:t>
            </a:r>
            <a:endParaRPr/>
          </a:p>
        </p:txBody>
      </p:sp>
      <p:sp>
        <p:nvSpPr>
          <p:cNvPr id="108" name="Google Shape;108;p1"/>
          <p:cNvSpPr txBox="1"/>
          <p:nvPr>
            <p:ph idx="1" type="subTitle"/>
          </p:nvPr>
        </p:nvSpPr>
        <p:spPr>
          <a:xfrm>
            <a:off x="1963630" y="3427487"/>
            <a:ext cx="5486400" cy="2615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-US">
                <a:solidFill>
                  <a:schemeClr val="lt1"/>
                </a:solidFill>
              </a:rPr>
              <a:t>Swathi Mulkundkar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-US">
                <a:solidFill>
                  <a:schemeClr val="lt1"/>
                </a:solidFill>
              </a:rPr>
              <a:t>Data Analytics with AI – Code Institute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-US">
                <a:solidFill>
                  <a:schemeClr val="lt1"/>
                </a:solidFill>
              </a:rPr>
              <a:t>14 November 2025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 flipH="1" rot="10800000">
            <a:off x="6096642" y="0"/>
            <a:ext cx="3047358" cy="1576412"/>
          </a:xfrm>
          <a:prstGeom prst="rect">
            <a:avLst/>
          </a:prstGeom>
          <a:gradFill>
            <a:gsLst>
              <a:gs pos="0">
                <a:srgbClr val="244061">
                  <a:alpha val="67843"/>
                </a:srgbClr>
              </a:gs>
              <a:gs pos="19000">
                <a:srgbClr val="244061">
                  <a:alpha val="67843"/>
                </a:srgbClr>
              </a:gs>
              <a:gs pos="100000">
                <a:srgbClr val="4F81BD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3000">
                <a:srgbClr val="4F81BD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>
            <p:ph type="title"/>
          </p:nvPr>
        </p:nvSpPr>
        <p:spPr>
          <a:xfrm>
            <a:off x="1028697" y="348865"/>
            <a:ext cx="7533018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>
                <a:solidFill>
                  <a:srgbClr val="FFFFFF"/>
                </a:solidFill>
              </a:rPr>
              <a:t>Project Overview</a:t>
            </a:r>
            <a:endParaRPr/>
          </a:p>
        </p:txBody>
      </p:sp>
      <p:grpSp>
        <p:nvGrpSpPr>
          <p:cNvPr id="119" name="Google Shape;119;p2"/>
          <p:cNvGrpSpPr/>
          <p:nvPr/>
        </p:nvGrpSpPr>
        <p:grpSpPr>
          <a:xfrm>
            <a:off x="501577" y="2772468"/>
            <a:ext cx="8158800" cy="2873025"/>
            <a:chOff x="18535" y="659889"/>
            <a:chExt cx="8158800" cy="2873025"/>
          </a:xfrm>
        </p:grpSpPr>
        <p:sp>
          <p:nvSpPr>
            <p:cNvPr id="120" name="Google Shape;120;p2"/>
            <p:cNvSpPr/>
            <p:nvPr/>
          </p:nvSpPr>
          <p:spPr>
            <a:xfrm>
              <a:off x="18535" y="659889"/>
              <a:ext cx="1080124" cy="1080124"/>
            </a:xfrm>
            <a:prstGeom prst="ellipse">
              <a:avLst/>
            </a:prstGeom>
            <a:solidFill>
              <a:srgbClr val="BF5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245361" y="886715"/>
              <a:ext cx="626472" cy="62647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1330115" y="659889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1330115" y="659889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Objective: Analyze E-commerce data to identify customer behavior and product trends.</a:t>
              </a: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4319746" y="659889"/>
              <a:ext cx="1080124" cy="108012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4546573" y="886715"/>
              <a:ext cx="626472" cy="62647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5631327" y="659889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"/>
            <p:cNvSpPr txBox="1"/>
            <p:nvPr/>
          </p:nvSpPr>
          <p:spPr>
            <a:xfrm>
              <a:off x="5631327" y="659889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Tools: Python (Pandas, Matplotlib, Seaborn, Plotly). Jupyter Notebook, VS code and Github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18535" y="2452790"/>
              <a:ext cx="1080124" cy="108012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245361" y="2679617"/>
              <a:ext cx="626472" cy="62647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1330115" y="2452790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"/>
            <p:cNvSpPr txBox="1"/>
            <p:nvPr/>
          </p:nvSpPr>
          <p:spPr>
            <a:xfrm>
              <a:off x="1330115" y="2452790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Dataset: 3 linked CSVs – Sales, Customer, and Product data.</a:t>
              </a: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4319746" y="2452790"/>
              <a:ext cx="1080124" cy="1080124"/>
            </a:xfrm>
            <a:prstGeom prst="ellipse">
              <a:avLst/>
            </a:prstGeom>
            <a:solidFill>
              <a:srgbClr val="49AC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4546573" y="2679617"/>
              <a:ext cx="626472" cy="62647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5631327" y="2452790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"/>
            <p:cNvSpPr txBox="1"/>
            <p:nvPr/>
          </p:nvSpPr>
          <p:spPr>
            <a:xfrm>
              <a:off x="5631327" y="2452790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Outcome: Visual insights and predictive model to forecast purchases.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"/>
          <p:cNvSpPr/>
          <p:nvPr/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dk1">
              <a:alpha val="5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" name="Google Shape;143;p3"/>
          <p:cNvGrpSpPr/>
          <p:nvPr/>
        </p:nvGrpSpPr>
        <p:grpSpPr>
          <a:xfrm>
            <a:off x="0" y="2075420"/>
            <a:ext cx="9297047" cy="4440643"/>
            <a:chOff x="1" y="2075420"/>
            <a:chExt cx="12396066" cy="4440643"/>
          </a:xfrm>
        </p:grpSpPr>
        <p:sp>
          <p:nvSpPr>
            <p:cNvPr id="144" name="Google Shape;144;p3"/>
            <p:cNvSpPr/>
            <p:nvPr/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3"/>
            <p:cNvSpPr/>
            <p:nvPr/>
          </p:nvSpPr>
          <p:spPr>
            <a:xfrm rot="-5400000">
              <a:off x="10435065" y="4048931"/>
              <a:ext cx="1381607" cy="1381607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2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3"/>
            <p:cNvSpPr/>
            <p:nvPr/>
          </p:nvSpPr>
          <p:spPr>
            <a:xfrm rot="-54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rgbClr val="17365D">
                    <a:alpha val="20000"/>
                  </a:srgbClr>
                </a:gs>
                <a:gs pos="100000">
                  <a:srgbClr val="0F243E">
                    <a:alpha val="9803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3"/>
            <p:cNvSpPr/>
            <p:nvPr/>
          </p:nvSpPr>
          <p:spPr>
            <a:xfrm rot="-90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rgbClr val="17365D">
                    <a:alpha val="9803"/>
                  </a:srgbClr>
                </a:gs>
                <a:gs pos="100000">
                  <a:srgbClr val="17365D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3"/>
            <p:cNvSpPr/>
            <p:nvPr/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2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3"/>
            <p:cNvSpPr/>
            <p:nvPr/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3"/>
          <p:cNvSpPr/>
          <p:nvPr/>
        </p:nvSpPr>
        <p:spPr>
          <a:xfrm rot="-5400000">
            <a:off x="7479052" y="1131512"/>
            <a:ext cx="2796461" cy="533439"/>
          </a:xfrm>
          <a:prstGeom prst="rect">
            <a:avLst/>
          </a:prstGeom>
          <a:gradFill>
            <a:gsLst>
              <a:gs pos="0">
                <a:srgbClr val="8CB3E3">
                  <a:alpha val="0"/>
                </a:srgbClr>
              </a:gs>
              <a:gs pos="100000">
                <a:srgbClr val="17365D">
                  <a:alpha val="9803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1" name="Google Shape;151;p3"/>
          <p:cNvGrpSpPr/>
          <p:nvPr/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152" name="Google Shape;152;p3"/>
            <p:cNvCxnSpPr/>
            <p:nvPr/>
          </p:nvCxnSpPr>
          <p:spPr>
            <a:xfrm>
              <a:off x="7029447" y="3514725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53" name="Google Shape;153;p3"/>
            <p:cNvCxnSpPr/>
            <p:nvPr/>
          </p:nvCxnSpPr>
          <p:spPr>
            <a:xfrm>
              <a:off x="7029447" y="3697727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54" name="Google Shape;154;p3"/>
            <p:cNvCxnSpPr/>
            <p:nvPr/>
          </p:nvCxnSpPr>
          <p:spPr>
            <a:xfrm>
              <a:off x="7029447" y="3880729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55" name="Google Shape;155;p3"/>
            <p:cNvCxnSpPr/>
            <p:nvPr/>
          </p:nvCxnSpPr>
          <p:spPr>
            <a:xfrm>
              <a:off x="7029447" y="4063732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156" name="Google Shape;156;p3"/>
          <p:cNvSpPr/>
          <p:nvPr/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>
            <a:gsLst>
              <a:gs pos="0">
                <a:srgbClr val="0F243E">
                  <a:alpha val="9803"/>
                </a:srgbClr>
              </a:gs>
              <a:gs pos="10000">
                <a:srgbClr val="0F243E">
                  <a:alpha val="9803"/>
                </a:srgbClr>
              </a:gs>
              <a:gs pos="100000">
                <a:srgbClr val="538CD5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" name="Google Shape;157;p3"/>
          <p:cNvGrpSpPr/>
          <p:nvPr/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158" name="Google Shape;158;p3"/>
            <p:cNvCxnSpPr/>
            <p:nvPr/>
          </p:nvCxnSpPr>
          <p:spPr>
            <a:xfrm>
              <a:off x="7029447" y="3514725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59" name="Google Shape;159;p3"/>
            <p:cNvCxnSpPr/>
            <p:nvPr/>
          </p:nvCxnSpPr>
          <p:spPr>
            <a:xfrm>
              <a:off x="7029447" y="3697727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3"/>
            <p:cNvCxnSpPr/>
            <p:nvPr/>
          </p:nvCxnSpPr>
          <p:spPr>
            <a:xfrm>
              <a:off x="7029447" y="3880729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3"/>
            <p:cNvCxnSpPr/>
            <p:nvPr/>
          </p:nvCxnSpPr>
          <p:spPr>
            <a:xfrm>
              <a:off x="7029447" y="4063732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162" name="Google Shape;162;p3"/>
          <p:cNvSpPr txBox="1"/>
          <p:nvPr>
            <p:ph type="title"/>
          </p:nvPr>
        </p:nvSpPr>
        <p:spPr>
          <a:xfrm>
            <a:off x="473201" y="4018137"/>
            <a:ext cx="3803416" cy="2129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libri"/>
              <a:buNone/>
            </a:pPr>
            <a:r>
              <a:rPr lang="en-US" sz="4200">
                <a:solidFill>
                  <a:schemeClr val="lt1"/>
                </a:solidFill>
              </a:rPr>
              <a:t>ETL Pipeline</a:t>
            </a:r>
            <a:endParaRPr/>
          </a:p>
        </p:txBody>
      </p:sp>
      <p:pic>
        <p:nvPicPr>
          <p:cNvPr id="163" name="Google Shape;1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519" y="1233866"/>
            <a:ext cx="8132299" cy="20330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3"/>
          <p:cNvGrpSpPr/>
          <p:nvPr/>
        </p:nvGrpSpPr>
        <p:grpSpPr>
          <a:xfrm rot="-5400000">
            <a:off x="317544" y="830625"/>
            <a:ext cx="304800" cy="322326"/>
            <a:chOff x="215328" y="-46937"/>
            <a:chExt cx="304800" cy="2773841"/>
          </a:xfrm>
        </p:grpSpPr>
        <p:cxnSp>
          <p:nvCxnSpPr>
            <p:cNvPr id="165" name="Google Shape;165;p3"/>
            <p:cNvCxnSpPr/>
            <p:nvPr/>
          </p:nvCxnSpPr>
          <p:spPr>
            <a:xfrm>
              <a:off x="2153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66" name="Google Shape;166;p3"/>
            <p:cNvCxnSpPr/>
            <p:nvPr/>
          </p:nvCxnSpPr>
          <p:spPr>
            <a:xfrm>
              <a:off x="3169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67" name="Google Shape;167;p3"/>
            <p:cNvCxnSpPr/>
            <p:nvPr/>
          </p:nvCxnSpPr>
          <p:spPr>
            <a:xfrm>
              <a:off x="4185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68" name="Google Shape;168;p3"/>
            <p:cNvCxnSpPr/>
            <p:nvPr/>
          </p:nvCxnSpPr>
          <p:spPr>
            <a:xfrm>
              <a:off x="5201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169" name="Google Shape;169;p3"/>
          <p:cNvSpPr/>
          <p:nvPr/>
        </p:nvSpPr>
        <p:spPr>
          <a:xfrm rot="-9000000">
            <a:off x="7613133" y="4270841"/>
            <a:ext cx="1423414" cy="1897885"/>
          </a:xfrm>
          <a:prstGeom prst="ellipse">
            <a:avLst/>
          </a:prstGeom>
          <a:gradFill>
            <a:gsLst>
              <a:gs pos="0">
                <a:srgbClr val="17365D">
                  <a:alpha val="9803"/>
                </a:srgbClr>
              </a:gs>
              <a:gs pos="100000">
                <a:srgbClr val="538CD5">
                  <a:alpha val="9803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"/>
          <p:cNvSpPr txBox="1"/>
          <p:nvPr>
            <p:ph idx="1" type="body"/>
          </p:nvPr>
        </p:nvSpPr>
        <p:spPr>
          <a:xfrm>
            <a:off x="4443978" y="4018143"/>
            <a:ext cx="4161833" cy="2129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1600">
                <a:solidFill>
                  <a:schemeClr val="lt1"/>
                </a:solidFill>
              </a:rPr>
              <a:t>Steps: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 sz="1600">
                <a:solidFill>
                  <a:schemeClr val="lt1"/>
                </a:solidFill>
              </a:rPr>
              <a:t>• Extract – Loaded CSV files from Kaggle.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 sz="1600">
                <a:solidFill>
                  <a:schemeClr val="lt1"/>
                </a:solidFill>
              </a:rPr>
              <a:t>• Transform – Cleaned, handled missing values, merged data.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 sz="1600">
                <a:solidFill>
                  <a:schemeClr val="lt1"/>
                </a:solidFill>
              </a:rPr>
              <a:t>• Load – Saved a unified DataFrame for analysis.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/>
          <p:nvPr/>
        </p:nvSpPr>
        <p:spPr>
          <a:xfrm>
            <a:off x="237100" y="-930225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 flipH="1" rot="5400000">
            <a:off x="-1914813" y="1914812"/>
            <a:ext cx="6858000" cy="3028377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366092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 flipH="1" rot="5400000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F81BD">
                  <a:alpha val="45882"/>
                </a:srgbClr>
              </a:gs>
              <a:gs pos="100000">
                <a:srgbClr val="4F81BD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 flipH="1" rot="5400000">
            <a:off x="263195" y="4092815"/>
            <a:ext cx="2501979" cy="3028381"/>
          </a:xfrm>
          <a:prstGeom prst="rect">
            <a:avLst/>
          </a:prstGeom>
          <a:gradFill>
            <a:gsLst>
              <a:gs pos="0">
                <a:srgbClr val="4F81BD">
                  <a:alpha val="28627"/>
                </a:srgbClr>
              </a:gs>
              <a:gs pos="2000">
                <a:srgbClr val="4F81BD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 flipH="1" rot="5400000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93B3D7">
                  <a:alpha val="10980"/>
                </a:srgbClr>
              </a:gs>
              <a:gs pos="100000">
                <a:srgbClr val="93B3D7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 rot="-964587">
            <a:off x="-376302" y="969718"/>
            <a:ext cx="292526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F81BD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 txBox="1"/>
          <p:nvPr>
            <p:ph type="title"/>
          </p:nvPr>
        </p:nvSpPr>
        <p:spPr>
          <a:xfrm>
            <a:off x="373607" y="456345"/>
            <a:ext cx="2384947" cy="1159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>
                <a:solidFill>
                  <a:srgbClr val="FFFFFF"/>
                </a:solidFill>
              </a:rPr>
              <a:t>Customer Insights</a:t>
            </a:r>
            <a:endParaRPr/>
          </a:p>
        </p:txBody>
      </p:sp>
      <p:pic>
        <p:nvPicPr>
          <p:cNvPr id="183" name="Google Shape;183;p4"/>
          <p:cNvPicPr preferRelativeResize="0"/>
          <p:nvPr/>
        </p:nvPicPr>
        <p:blipFill rotWithShape="1">
          <a:blip r:embed="rId3">
            <a:alphaModFix/>
          </a:blip>
          <a:srcRect b="-2" l="13665" r="18812" t="0"/>
          <a:stretch/>
        </p:blipFill>
        <p:spPr>
          <a:xfrm>
            <a:off x="3401975" y="911314"/>
            <a:ext cx="2577403" cy="1831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7775" y="1117600"/>
            <a:ext cx="3116075" cy="179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4"/>
          <p:cNvPicPr preferRelativeResize="0"/>
          <p:nvPr/>
        </p:nvPicPr>
        <p:blipFill rotWithShape="1">
          <a:blip r:embed="rId5">
            <a:alphaModFix/>
          </a:blip>
          <a:srcRect b="3" l="5120" r="30433" t="0"/>
          <a:stretch/>
        </p:blipFill>
        <p:spPr>
          <a:xfrm>
            <a:off x="3618593" y="4795521"/>
            <a:ext cx="4448446" cy="1387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4"/>
          <p:cNvPicPr preferRelativeResize="0"/>
          <p:nvPr/>
        </p:nvPicPr>
        <p:blipFill rotWithShape="1">
          <a:blip r:embed="rId6">
            <a:alphaModFix/>
          </a:blip>
          <a:srcRect b="2" l="14671" r="21981" t="0"/>
          <a:stretch/>
        </p:blipFill>
        <p:spPr>
          <a:xfrm>
            <a:off x="3401975" y="3153743"/>
            <a:ext cx="4583785" cy="1402327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4"/>
          <p:cNvSpPr txBox="1"/>
          <p:nvPr>
            <p:ph idx="1" type="body"/>
          </p:nvPr>
        </p:nvSpPr>
        <p:spPr>
          <a:xfrm>
            <a:off x="82149" y="2031290"/>
            <a:ext cx="2676405" cy="4501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</a:pPr>
            <a:r>
              <a:rPr lang="en-US" sz="1700">
                <a:solidFill>
                  <a:schemeClr val="lt1"/>
                </a:solidFill>
              </a:rPr>
              <a:t>Key Findings: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</a:pPr>
            <a:r>
              <a:rPr lang="en-US" sz="1700">
                <a:solidFill>
                  <a:schemeClr val="lt1"/>
                </a:solidFill>
              </a:rPr>
              <a:t>• Gender Distribution: Majority of users are male.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</a:pPr>
            <a:r>
              <a:rPr lang="en-US" sz="1700">
                <a:solidFill>
                  <a:schemeClr val="lt1"/>
                </a:solidFill>
              </a:rPr>
              <a:t>• Age Group 25–40 makes the most purchases.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</a:pPr>
            <a:r>
              <a:rPr lang="en-US" sz="1700">
                <a:solidFill>
                  <a:schemeClr val="lt1"/>
                </a:solidFill>
              </a:rPr>
              <a:t>• Preferred Payments: PayPal &amp; Credit Card.</a:t>
            </a:r>
            <a:endParaRPr/>
          </a:p>
          <a:p>
            <a:pPr indent="-23495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"/>
          <p:cNvSpPr/>
          <p:nvPr/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dk1">
              <a:alpha val="5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5" name="Google Shape;195;p5"/>
          <p:cNvGrpSpPr/>
          <p:nvPr/>
        </p:nvGrpSpPr>
        <p:grpSpPr>
          <a:xfrm>
            <a:off x="0" y="2075420"/>
            <a:ext cx="9297047" cy="4440643"/>
            <a:chOff x="1" y="2075420"/>
            <a:chExt cx="12396066" cy="4440643"/>
          </a:xfrm>
        </p:grpSpPr>
        <p:sp>
          <p:nvSpPr>
            <p:cNvPr id="196" name="Google Shape;196;p5"/>
            <p:cNvSpPr/>
            <p:nvPr/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5"/>
            <p:cNvSpPr/>
            <p:nvPr/>
          </p:nvSpPr>
          <p:spPr>
            <a:xfrm rot="-5400000">
              <a:off x="10435065" y="4048931"/>
              <a:ext cx="1381607" cy="1381607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2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5"/>
            <p:cNvSpPr/>
            <p:nvPr/>
          </p:nvSpPr>
          <p:spPr>
            <a:xfrm rot="-54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rgbClr val="17365D">
                    <a:alpha val="20000"/>
                  </a:srgbClr>
                </a:gs>
                <a:gs pos="100000">
                  <a:srgbClr val="0F243E">
                    <a:alpha val="9803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5"/>
            <p:cNvSpPr/>
            <p:nvPr/>
          </p:nvSpPr>
          <p:spPr>
            <a:xfrm rot="-90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rgbClr val="17365D">
                    <a:alpha val="9803"/>
                  </a:srgbClr>
                </a:gs>
                <a:gs pos="100000">
                  <a:srgbClr val="17365D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5"/>
            <p:cNvSpPr/>
            <p:nvPr/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2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5"/>
            <p:cNvSpPr/>
            <p:nvPr/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5"/>
          <p:cNvSpPr txBox="1"/>
          <p:nvPr>
            <p:ph type="title"/>
          </p:nvPr>
        </p:nvSpPr>
        <p:spPr>
          <a:xfrm>
            <a:off x="473202" y="630935"/>
            <a:ext cx="4400787" cy="305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libri"/>
              <a:buNone/>
            </a:pPr>
            <a:r>
              <a:rPr lang="en-US" sz="4200">
                <a:solidFill>
                  <a:schemeClr val="lt1"/>
                </a:solidFill>
              </a:rPr>
              <a:t>Product Insights</a:t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 rot="-5400000">
            <a:off x="7479052" y="1131512"/>
            <a:ext cx="2796461" cy="533439"/>
          </a:xfrm>
          <a:prstGeom prst="rect">
            <a:avLst/>
          </a:prstGeom>
          <a:gradFill>
            <a:gsLst>
              <a:gs pos="0">
                <a:srgbClr val="8CB3E3">
                  <a:alpha val="0"/>
                </a:srgbClr>
              </a:gs>
              <a:gs pos="100000">
                <a:srgbClr val="17365D">
                  <a:alpha val="9803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4" name="Google Shape;204;p5"/>
          <p:cNvGrpSpPr/>
          <p:nvPr/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05" name="Google Shape;205;p5"/>
            <p:cNvCxnSpPr/>
            <p:nvPr/>
          </p:nvCxnSpPr>
          <p:spPr>
            <a:xfrm>
              <a:off x="7029447" y="3514725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06" name="Google Shape;206;p5"/>
            <p:cNvCxnSpPr/>
            <p:nvPr/>
          </p:nvCxnSpPr>
          <p:spPr>
            <a:xfrm>
              <a:off x="7029447" y="3697727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07" name="Google Shape;207;p5"/>
            <p:cNvCxnSpPr/>
            <p:nvPr/>
          </p:nvCxnSpPr>
          <p:spPr>
            <a:xfrm>
              <a:off x="7029447" y="3880729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08" name="Google Shape;208;p5"/>
            <p:cNvCxnSpPr/>
            <p:nvPr/>
          </p:nvCxnSpPr>
          <p:spPr>
            <a:xfrm>
              <a:off x="7029447" y="4063732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pic>
        <p:nvPicPr>
          <p:cNvPr id="209" name="Google Shape;20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02" y="437204"/>
            <a:ext cx="3489931" cy="20445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0" name="Google Shape;210;p5"/>
          <p:cNvGrpSpPr/>
          <p:nvPr/>
        </p:nvGrpSpPr>
        <p:grpSpPr>
          <a:xfrm rot="-5400000">
            <a:off x="5901581" y="189432"/>
            <a:ext cx="304800" cy="322326"/>
            <a:chOff x="215328" y="-46937"/>
            <a:chExt cx="304800" cy="2773841"/>
          </a:xfrm>
        </p:grpSpPr>
        <p:cxnSp>
          <p:nvCxnSpPr>
            <p:cNvPr id="211" name="Google Shape;211;p5"/>
            <p:cNvCxnSpPr/>
            <p:nvPr/>
          </p:nvCxnSpPr>
          <p:spPr>
            <a:xfrm>
              <a:off x="2153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12" name="Google Shape;212;p5"/>
            <p:cNvCxnSpPr/>
            <p:nvPr/>
          </p:nvCxnSpPr>
          <p:spPr>
            <a:xfrm>
              <a:off x="3169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13" name="Google Shape;213;p5"/>
            <p:cNvCxnSpPr/>
            <p:nvPr/>
          </p:nvCxnSpPr>
          <p:spPr>
            <a:xfrm>
              <a:off x="4185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14" name="Google Shape;214;p5"/>
            <p:cNvCxnSpPr/>
            <p:nvPr/>
          </p:nvCxnSpPr>
          <p:spPr>
            <a:xfrm>
              <a:off x="5201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pic>
        <p:nvPicPr>
          <p:cNvPr id="215" name="Google Shape;21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4048" y="565213"/>
            <a:ext cx="3904849" cy="195697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5"/>
          <p:cNvSpPr/>
          <p:nvPr/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>
            <a:gsLst>
              <a:gs pos="0">
                <a:srgbClr val="0F243E">
                  <a:alpha val="9803"/>
                </a:srgbClr>
              </a:gs>
              <a:gs pos="10000">
                <a:srgbClr val="0F243E">
                  <a:alpha val="9803"/>
                </a:srgbClr>
              </a:gs>
              <a:gs pos="100000">
                <a:srgbClr val="538CD5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7" name="Google Shape;217;p5"/>
          <p:cNvGrpSpPr/>
          <p:nvPr/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218" name="Google Shape;218;p5"/>
            <p:cNvCxnSpPr/>
            <p:nvPr/>
          </p:nvCxnSpPr>
          <p:spPr>
            <a:xfrm>
              <a:off x="7029447" y="3514725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19" name="Google Shape;219;p5"/>
            <p:cNvCxnSpPr/>
            <p:nvPr/>
          </p:nvCxnSpPr>
          <p:spPr>
            <a:xfrm>
              <a:off x="7029447" y="3697727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20" name="Google Shape;220;p5"/>
            <p:cNvCxnSpPr/>
            <p:nvPr/>
          </p:nvCxnSpPr>
          <p:spPr>
            <a:xfrm>
              <a:off x="7029447" y="3880729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21" name="Google Shape;221;p5"/>
            <p:cNvCxnSpPr/>
            <p:nvPr/>
          </p:nvCxnSpPr>
          <p:spPr>
            <a:xfrm>
              <a:off x="7029447" y="4063732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222" name="Google Shape;222;p5"/>
          <p:cNvSpPr txBox="1"/>
          <p:nvPr>
            <p:ph idx="1" type="body"/>
          </p:nvPr>
        </p:nvSpPr>
        <p:spPr>
          <a:xfrm>
            <a:off x="473202" y="3952890"/>
            <a:ext cx="4400790" cy="23050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 sz="1600">
                <a:solidFill>
                  <a:schemeClr val="lt1"/>
                </a:solidFill>
              </a:rPr>
              <a:t>• Top 10 Categories Rate(purchases/views)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 sz="1600">
                <a:solidFill>
                  <a:schemeClr val="lt1"/>
                </a:solidFill>
              </a:rPr>
              <a:t>Average Order Value by payment method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 sz="1600">
                <a:solidFill>
                  <a:schemeClr val="lt1"/>
                </a:solidFill>
              </a:rPr>
              <a:t>• Consistent monthly trends observed in 2023–2024.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 sz="1600">
                <a:solidFill>
                  <a:schemeClr val="lt1"/>
                </a:solidFill>
              </a:rPr>
              <a:t>• Seasonal peaks during October–December.</a:t>
            </a:r>
            <a:endParaRPr/>
          </a:p>
          <a:p>
            <a:pPr indent="-2413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223" name="Google Shape;22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8337" y="2905971"/>
            <a:ext cx="3656606" cy="2203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"/>
          <p:cNvSpPr/>
          <p:nvPr/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dk1">
              <a:alpha val="5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1" name="Google Shape;231;p6"/>
          <p:cNvGrpSpPr/>
          <p:nvPr/>
        </p:nvGrpSpPr>
        <p:grpSpPr>
          <a:xfrm>
            <a:off x="0" y="2075420"/>
            <a:ext cx="9297047" cy="4440643"/>
            <a:chOff x="1" y="2075420"/>
            <a:chExt cx="12396066" cy="4440643"/>
          </a:xfrm>
        </p:grpSpPr>
        <p:sp>
          <p:nvSpPr>
            <p:cNvPr id="232" name="Google Shape;232;p6"/>
            <p:cNvSpPr/>
            <p:nvPr/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6"/>
            <p:cNvSpPr/>
            <p:nvPr/>
          </p:nvSpPr>
          <p:spPr>
            <a:xfrm rot="-5400000">
              <a:off x="10435065" y="4048931"/>
              <a:ext cx="1381607" cy="1381607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2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6"/>
            <p:cNvSpPr/>
            <p:nvPr/>
          </p:nvSpPr>
          <p:spPr>
            <a:xfrm rot="-54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rgbClr val="17365D">
                    <a:alpha val="20000"/>
                  </a:srgbClr>
                </a:gs>
                <a:gs pos="100000">
                  <a:srgbClr val="0F243E">
                    <a:alpha val="9803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6"/>
            <p:cNvSpPr/>
            <p:nvPr/>
          </p:nvSpPr>
          <p:spPr>
            <a:xfrm rot="-90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rgbClr val="17365D">
                    <a:alpha val="9803"/>
                  </a:srgbClr>
                </a:gs>
                <a:gs pos="100000">
                  <a:srgbClr val="17365D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6"/>
            <p:cNvSpPr/>
            <p:nvPr/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2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6"/>
            <p:cNvSpPr/>
            <p:nvPr/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8" name="Google Shape;238;p6"/>
          <p:cNvSpPr txBox="1"/>
          <p:nvPr>
            <p:ph type="title"/>
          </p:nvPr>
        </p:nvSpPr>
        <p:spPr>
          <a:xfrm>
            <a:off x="473202" y="630936"/>
            <a:ext cx="4172309" cy="263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libri"/>
              <a:buNone/>
            </a:pPr>
            <a:r>
              <a:rPr lang="en-US" sz="4200">
                <a:solidFill>
                  <a:schemeClr val="lt1"/>
                </a:solidFill>
              </a:rPr>
              <a:t>Predictive Modeling</a:t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 rot="-5400000">
            <a:off x="7479052" y="1131512"/>
            <a:ext cx="2796461" cy="533439"/>
          </a:xfrm>
          <a:prstGeom prst="rect">
            <a:avLst/>
          </a:prstGeom>
          <a:gradFill>
            <a:gsLst>
              <a:gs pos="0">
                <a:srgbClr val="8CB3E3">
                  <a:alpha val="0"/>
                </a:srgbClr>
              </a:gs>
              <a:gs pos="100000">
                <a:srgbClr val="17365D">
                  <a:alpha val="9803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0" name="Google Shape;240;p6"/>
          <p:cNvGrpSpPr/>
          <p:nvPr/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41" name="Google Shape;241;p6"/>
            <p:cNvCxnSpPr/>
            <p:nvPr/>
          </p:nvCxnSpPr>
          <p:spPr>
            <a:xfrm>
              <a:off x="7029447" y="3514725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42" name="Google Shape;242;p6"/>
            <p:cNvCxnSpPr/>
            <p:nvPr/>
          </p:nvCxnSpPr>
          <p:spPr>
            <a:xfrm>
              <a:off x="7029447" y="3697727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43" name="Google Shape;243;p6"/>
            <p:cNvCxnSpPr/>
            <p:nvPr/>
          </p:nvCxnSpPr>
          <p:spPr>
            <a:xfrm>
              <a:off x="7029447" y="3880729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44" name="Google Shape;244;p6"/>
            <p:cNvCxnSpPr/>
            <p:nvPr/>
          </p:nvCxnSpPr>
          <p:spPr>
            <a:xfrm>
              <a:off x="7029447" y="4063732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245" name="Google Shape;245;p6"/>
          <p:cNvSpPr/>
          <p:nvPr/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>
            <a:gsLst>
              <a:gs pos="0">
                <a:srgbClr val="0F243E">
                  <a:alpha val="9803"/>
                </a:srgbClr>
              </a:gs>
              <a:gs pos="10000">
                <a:srgbClr val="0F243E">
                  <a:alpha val="9803"/>
                </a:srgbClr>
              </a:gs>
              <a:gs pos="100000">
                <a:srgbClr val="538CD5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6" name="Google Shape;246;p6"/>
          <p:cNvGrpSpPr/>
          <p:nvPr/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247" name="Google Shape;247;p6"/>
            <p:cNvCxnSpPr/>
            <p:nvPr/>
          </p:nvCxnSpPr>
          <p:spPr>
            <a:xfrm>
              <a:off x="7029447" y="3514725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48" name="Google Shape;248;p6"/>
            <p:cNvCxnSpPr/>
            <p:nvPr/>
          </p:nvCxnSpPr>
          <p:spPr>
            <a:xfrm>
              <a:off x="7029447" y="3697727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49" name="Google Shape;249;p6"/>
            <p:cNvCxnSpPr/>
            <p:nvPr/>
          </p:nvCxnSpPr>
          <p:spPr>
            <a:xfrm>
              <a:off x="7029447" y="3880729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50" name="Google Shape;250;p6"/>
            <p:cNvCxnSpPr/>
            <p:nvPr/>
          </p:nvCxnSpPr>
          <p:spPr>
            <a:xfrm>
              <a:off x="7029447" y="4063732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251" name="Google Shape;251;p6"/>
          <p:cNvSpPr txBox="1"/>
          <p:nvPr>
            <p:ph idx="1" type="body"/>
          </p:nvPr>
        </p:nvSpPr>
        <p:spPr>
          <a:xfrm>
            <a:off x="473202" y="3429000"/>
            <a:ext cx="4172312" cy="1790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 sz="1600">
                <a:solidFill>
                  <a:schemeClr val="lt1"/>
                </a:solidFill>
              </a:rPr>
              <a:t>Model: Random Forest Classifier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 sz="1600">
                <a:solidFill>
                  <a:schemeClr val="lt1"/>
                </a:solidFill>
              </a:rPr>
              <a:t>• Features: Age, Gender, Payment Method, Frequency of Purchases.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 sz="1600">
                <a:solidFill>
                  <a:schemeClr val="lt1"/>
                </a:solidFill>
              </a:rPr>
              <a:t>• Target: Purchase likelihood.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 sz="1600">
                <a:solidFill>
                  <a:schemeClr val="lt1"/>
                </a:solidFill>
              </a:rPr>
              <a:t>• Accuracy: ~85%</a:t>
            </a:r>
            <a:endParaRPr/>
          </a:p>
          <a:p>
            <a:pPr indent="-2413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252" name="Google Shape;2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7041" y="2146033"/>
            <a:ext cx="3100577" cy="25967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6"/>
          <p:cNvGrpSpPr/>
          <p:nvPr/>
        </p:nvGrpSpPr>
        <p:grpSpPr>
          <a:xfrm rot="-5400000">
            <a:off x="5302357" y="851510"/>
            <a:ext cx="304800" cy="322326"/>
            <a:chOff x="215328" y="-46937"/>
            <a:chExt cx="304800" cy="2773841"/>
          </a:xfrm>
        </p:grpSpPr>
        <p:cxnSp>
          <p:nvCxnSpPr>
            <p:cNvPr id="254" name="Google Shape;254;p6"/>
            <p:cNvCxnSpPr/>
            <p:nvPr/>
          </p:nvCxnSpPr>
          <p:spPr>
            <a:xfrm>
              <a:off x="2153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55" name="Google Shape;255;p6"/>
            <p:cNvCxnSpPr/>
            <p:nvPr/>
          </p:nvCxnSpPr>
          <p:spPr>
            <a:xfrm>
              <a:off x="3169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56" name="Google Shape;256;p6"/>
            <p:cNvCxnSpPr/>
            <p:nvPr/>
          </p:nvCxnSpPr>
          <p:spPr>
            <a:xfrm>
              <a:off x="4185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57" name="Google Shape;257;p6"/>
            <p:cNvCxnSpPr/>
            <p:nvPr/>
          </p:nvCxnSpPr>
          <p:spPr>
            <a:xfrm>
              <a:off x="5201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7"/>
          <p:cNvSpPr/>
          <p:nvPr/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dk1">
              <a:alpha val="5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5" name="Google Shape;265;p7"/>
          <p:cNvGrpSpPr/>
          <p:nvPr/>
        </p:nvGrpSpPr>
        <p:grpSpPr>
          <a:xfrm>
            <a:off x="0" y="2075420"/>
            <a:ext cx="9297047" cy="4440643"/>
            <a:chOff x="1" y="2075420"/>
            <a:chExt cx="12396066" cy="4440643"/>
          </a:xfrm>
        </p:grpSpPr>
        <p:sp>
          <p:nvSpPr>
            <p:cNvPr id="266" name="Google Shape;266;p7"/>
            <p:cNvSpPr/>
            <p:nvPr/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7"/>
            <p:cNvSpPr/>
            <p:nvPr/>
          </p:nvSpPr>
          <p:spPr>
            <a:xfrm rot="-5400000">
              <a:off x="10435065" y="4048931"/>
              <a:ext cx="1381607" cy="1381607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2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7"/>
            <p:cNvSpPr/>
            <p:nvPr/>
          </p:nvSpPr>
          <p:spPr>
            <a:xfrm rot="-54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rgbClr val="17365D">
                    <a:alpha val="20000"/>
                  </a:srgbClr>
                </a:gs>
                <a:gs pos="100000">
                  <a:srgbClr val="0F243E">
                    <a:alpha val="9803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7"/>
            <p:cNvSpPr/>
            <p:nvPr/>
          </p:nvSpPr>
          <p:spPr>
            <a:xfrm rot="-90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rgbClr val="17365D">
                    <a:alpha val="9803"/>
                  </a:srgbClr>
                </a:gs>
                <a:gs pos="100000">
                  <a:srgbClr val="17365D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7"/>
            <p:cNvSpPr/>
            <p:nvPr/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2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7"/>
            <p:cNvSpPr/>
            <p:nvPr/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7"/>
          <p:cNvSpPr/>
          <p:nvPr/>
        </p:nvSpPr>
        <p:spPr>
          <a:xfrm rot="-5400000">
            <a:off x="7479052" y="1131512"/>
            <a:ext cx="2796461" cy="533439"/>
          </a:xfrm>
          <a:prstGeom prst="rect">
            <a:avLst/>
          </a:prstGeom>
          <a:gradFill>
            <a:gsLst>
              <a:gs pos="0">
                <a:srgbClr val="8CB3E3">
                  <a:alpha val="0"/>
                </a:srgbClr>
              </a:gs>
              <a:gs pos="100000">
                <a:srgbClr val="17365D">
                  <a:alpha val="9803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3" name="Google Shape;273;p7"/>
          <p:cNvGrpSpPr/>
          <p:nvPr/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74" name="Google Shape;274;p7"/>
            <p:cNvCxnSpPr/>
            <p:nvPr/>
          </p:nvCxnSpPr>
          <p:spPr>
            <a:xfrm>
              <a:off x="7029447" y="3514725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75" name="Google Shape;275;p7"/>
            <p:cNvCxnSpPr/>
            <p:nvPr/>
          </p:nvCxnSpPr>
          <p:spPr>
            <a:xfrm>
              <a:off x="7029447" y="3697727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76" name="Google Shape;276;p7"/>
            <p:cNvCxnSpPr/>
            <p:nvPr/>
          </p:nvCxnSpPr>
          <p:spPr>
            <a:xfrm>
              <a:off x="7029447" y="3880729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77" name="Google Shape;277;p7"/>
            <p:cNvCxnSpPr/>
            <p:nvPr/>
          </p:nvCxnSpPr>
          <p:spPr>
            <a:xfrm>
              <a:off x="7029447" y="4063732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pic>
        <p:nvPicPr>
          <p:cNvPr id="278" name="Google Shape;278;p7"/>
          <p:cNvPicPr preferRelativeResize="0"/>
          <p:nvPr/>
        </p:nvPicPr>
        <p:blipFill rotWithShape="1">
          <a:blip r:embed="rId3">
            <a:alphaModFix/>
          </a:blip>
          <a:srcRect b="0" l="0" r="10113" t="0"/>
          <a:stretch/>
        </p:blipFill>
        <p:spPr>
          <a:xfrm>
            <a:off x="469942" y="317578"/>
            <a:ext cx="8138333" cy="35084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9" name="Google Shape;279;p7"/>
          <p:cNvGrpSpPr/>
          <p:nvPr/>
        </p:nvGrpSpPr>
        <p:grpSpPr>
          <a:xfrm rot="-5400000">
            <a:off x="317544" y="536210"/>
            <a:ext cx="304800" cy="322326"/>
            <a:chOff x="215328" y="-46937"/>
            <a:chExt cx="304800" cy="2773841"/>
          </a:xfrm>
        </p:grpSpPr>
        <p:cxnSp>
          <p:nvCxnSpPr>
            <p:cNvPr id="280" name="Google Shape;280;p7"/>
            <p:cNvCxnSpPr/>
            <p:nvPr/>
          </p:nvCxnSpPr>
          <p:spPr>
            <a:xfrm>
              <a:off x="2153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81" name="Google Shape;281;p7"/>
            <p:cNvCxnSpPr/>
            <p:nvPr/>
          </p:nvCxnSpPr>
          <p:spPr>
            <a:xfrm>
              <a:off x="3169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82" name="Google Shape;282;p7"/>
            <p:cNvCxnSpPr/>
            <p:nvPr/>
          </p:nvCxnSpPr>
          <p:spPr>
            <a:xfrm>
              <a:off x="4185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83" name="Google Shape;283;p7"/>
            <p:cNvCxnSpPr/>
            <p:nvPr/>
          </p:nvCxnSpPr>
          <p:spPr>
            <a:xfrm>
              <a:off x="5201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284" name="Google Shape;284;p7"/>
          <p:cNvSpPr/>
          <p:nvPr/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>
            <a:gsLst>
              <a:gs pos="0">
                <a:srgbClr val="0F243E">
                  <a:alpha val="9803"/>
                </a:srgbClr>
              </a:gs>
              <a:gs pos="10000">
                <a:srgbClr val="0F243E">
                  <a:alpha val="9803"/>
                </a:srgbClr>
              </a:gs>
              <a:gs pos="100000">
                <a:srgbClr val="538CD5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5" name="Google Shape;285;p7"/>
          <p:cNvGrpSpPr/>
          <p:nvPr/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286" name="Google Shape;286;p7"/>
            <p:cNvCxnSpPr/>
            <p:nvPr/>
          </p:nvCxnSpPr>
          <p:spPr>
            <a:xfrm>
              <a:off x="7029447" y="3514725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87" name="Google Shape;287;p7"/>
            <p:cNvCxnSpPr/>
            <p:nvPr/>
          </p:nvCxnSpPr>
          <p:spPr>
            <a:xfrm>
              <a:off x="7029447" y="3697727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88" name="Google Shape;288;p7"/>
            <p:cNvCxnSpPr/>
            <p:nvPr/>
          </p:nvCxnSpPr>
          <p:spPr>
            <a:xfrm>
              <a:off x="7029447" y="3880729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89" name="Google Shape;289;p7"/>
            <p:cNvCxnSpPr/>
            <p:nvPr/>
          </p:nvCxnSpPr>
          <p:spPr>
            <a:xfrm>
              <a:off x="7029447" y="4063732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290" name="Google Shape;290;p7"/>
          <p:cNvSpPr txBox="1"/>
          <p:nvPr>
            <p:ph type="title"/>
          </p:nvPr>
        </p:nvSpPr>
        <p:spPr>
          <a:xfrm>
            <a:off x="473202" y="4018137"/>
            <a:ext cx="3426795" cy="2129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libri"/>
              <a:buNone/>
            </a:pPr>
            <a:r>
              <a:rPr lang="en-US" sz="4200">
                <a:solidFill>
                  <a:schemeClr val="lt1"/>
                </a:solidFill>
              </a:rPr>
              <a:t>Feature Importance</a:t>
            </a:r>
            <a:endParaRPr/>
          </a:p>
        </p:txBody>
      </p:sp>
      <p:sp>
        <p:nvSpPr>
          <p:cNvPr id="291" name="Google Shape;291;p7"/>
          <p:cNvSpPr txBox="1"/>
          <p:nvPr>
            <p:ph idx="1" type="body"/>
          </p:nvPr>
        </p:nvSpPr>
        <p:spPr>
          <a:xfrm>
            <a:off x="4114560" y="4018144"/>
            <a:ext cx="4255578" cy="1662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</a:pPr>
            <a:r>
              <a:rPr lang="en-US" sz="1500">
                <a:solidFill>
                  <a:schemeClr val="lt1"/>
                </a:solidFill>
              </a:rPr>
              <a:t>Top Predictors: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</a:pPr>
            <a:r>
              <a:rPr lang="en-US" sz="1500">
                <a:solidFill>
                  <a:schemeClr val="lt1"/>
                </a:solidFill>
              </a:rPr>
              <a:t>1. Frequency of Purchases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</a:pPr>
            <a:r>
              <a:rPr lang="en-US" sz="1500">
                <a:solidFill>
                  <a:schemeClr val="lt1"/>
                </a:solidFill>
              </a:rPr>
              <a:t>2. Payment Method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</a:pPr>
            <a:r>
              <a:rPr lang="en-US" sz="1500">
                <a:solidFill>
                  <a:schemeClr val="lt1"/>
                </a:solidFill>
              </a:rPr>
              <a:t>3. Age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</a:pPr>
            <a:r>
              <a:rPr lang="en-US" sz="1500">
                <a:solidFill>
                  <a:schemeClr val="lt1"/>
                </a:solidFill>
              </a:rPr>
              <a:t>4. Gender</a:t>
            </a:r>
            <a:endParaRPr/>
          </a:p>
          <a:p>
            <a:pPr indent="-247650" lvl="0" marL="3429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 flipH="1">
            <a:off x="0" y="5266402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 flipH="1">
            <a:off x="0" y="5270175"/>
            <a:ext cx="9138997" cy="159074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100000">
                <a:srgbClr val="244061"/>
              </a:gs>
            </a:gsLst>
            <a:lin ang="10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 flipH="1">
            <a:off x="6086474" y="5265546"/>
            <a:ext cx="3057523" cy="1590742"/>
          </a:xfrm>
          <a:prstGeom prst="rect">
            <a:avLst/>
          </a:prstGeom>
          <a:gradFill>
            <a:gsLst>
              <a:gs pos="0">
                <a:srgbClr val="244061"/>
              </a:gs>
              <a:gs pos="100000">
                <a:srgbClr val="4F81BD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 rot="10800000">
            <a:off x="-10001" y="5263483"/>
            <a:ext cx="9143999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244061">
                  <a:alpha val="54901"/>
                </a:srgbClr>
              </a:gs>
              <a:gs pos="100000">
                <a:srgbClr val="244061">
                  <a:alpha val="54901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 txBox="1"/>
          <p:nvPr>
            <p:ph type="title"/>
          </p:nvPr>
        </p:nvSpPr>
        <p:spPr>
          <a:xfrm>
            <a:off x="1028699" y="5510253"/>
            <a:ext cx="7421963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>
                <a:solidFill>
                  <a:srgbClr val="FFFFFF"/>
                </a:solidFill>
              </a:rPr>
              <a:t>Correlation heatmap – Customer Behavior</a:t>
            </a:r>
            <a:endParaRPr/>
          </a:p>
        </p:txBody>
      </p:sp>
      <p:pic>
        <p:nvPicPr>
          <p:cNvPr id="302" name="Google Shape;30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440" y="771276"/>
            <a:ext cx="7345680" cy="3770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 flipH="1">
            <a:off x="0" y="0"/>
            <a:ext cx="9144000" cy="9612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 flipH="1" rot="10800000">
            <a:off x="-43850" y="175"/>
            <a:ext cx="9159600" cy="961200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0000">
                <a:srgbClr val="4F81BD">
                  <a:alpha val="0"/>
                </a:srgbClr>
              </a:gs>
              <a:gs pos="100000">
                <a:srgbClr val="24406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344500" y="0"/>
            <a:ext cx="8799600" cy="10083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244061">
                  <a:alpha val="51764"/>
                </a:srgbClr>
              </a:gs>
              <a:gs pos="100000">
                <a:srgbClr val="24406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 txBox="1"/>
          <p:nvPr>
            <p:ph type="title"/>
          </p:nvPr>
        </p:nvSpPr>
        <p:spPr>
          <a:xfrm>
            <a:off x="861000" y="108147"/>
            <a:ext cx="74220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>
                <a:solidFill>
                  <a:srgbClr val="FFFFFF"/>
                </a:solidFill>
              </a:rPr>
              <a:t>Insights &amp; Recommendations</a:t>
            </a:r>
            <a:endParaRPr/>
          </a:p>
        </p:txBody>
      </p:sp>
      <p:sp>
        <p:nvSpPr>
          <p:cNvPr id="313" name="Google Shape;313;p9"/>
          <p:cNvSpPr txBox="1"/>
          <p:nvPr>
            <p:ph idx="1" type="body"/>
          </p:nvPr>
        </p:nvSpPr>
        <p:spPr>
          <a:xfrm>
            <a:off x="97075" y="1070775"/>
            <a:ext cx="4227600" cy="55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/>
              <a:t>Insights </a:t>
            </a:r>
            <a:endParaRPr b="1" sz="18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Footwear &amp; Outerwear show the </a:t>
            </a:r>
            <a:r>
              <a:rPr b="1" lang="en-US" sz="1200"/>
              <a:t>highest conversion rates</a:t>
            </a:r>
            <a:r>
              <a:rPr lang="en-US" sz="1200"/>
              <a:t>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Accessories have </a:t>
            </a:r>
            <a:r>
              <a:rPr b="1" lang="en-US" sz="1200"/>
              <a:t>high views but low conversions</a:t>
            </a:r>
            <a:r>
              <a:rPr lang="en-US" sz="1200"/>
              <a:t>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Debit Card &amp; Bank Transfer users have the </a:t>
            </a:r>
            <a:r>
              <a:rPr b="1" lang="en-US" sz="1200"/>
              <a:t>highest AOV</a:t>
            </a:r>
            <a:r>
              <a:rPr lang="en-US" sz="1200"/>
              <a:t>; Cash &amp; Venmo the lowest.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Clothing demand remains </a:t>
            </a:r>
            <a:r>
              <a:rPr b="1" lang="en-US" sz="1200"/>
              <a:t>steady year-round</a:t>
            </a:r>
            <a:r>
              <a:rPr lang="en-US" sz="1200"/>
              <a:t>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Accessories &amp; Outerwear show </a:t>
            </a:r>
            <a:r>
              <a:rPr b="1" lang="en-US" sz="1200"/>
              <a:t>seasonal purchase peaks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Customers aged </a:t>
            </a:r>
            <a:r>
              <a:rPr b="1" lang="en-US" sz="1200"/>
              <a:t>25–40</a:t>
            </a:r>
            <a:r>
              <a:rPr lang="en-US" sz="1200"/>
              <a:t> form the </a:t>
            </a:r>
            <a:r>
              <a:rPr b="1" lang="en-US" sz="1200"/>
              <a:t>highest purchasing segment</a:t>
            </a:r>
            <a:r>
              <a:rPr lang="en-US" sz="1200"/>
              <a:t>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US" sz="1200"/>
              <a:t>PayPal &amp; Credit Card</a:t>
            </a:r>
            <a:r>
              <a:rPr lang="en-US" sz="1200"/>
              <a:t> users have </a:t>
            </a:r>
            <a:r>
              <a:rPr b="1" lang="en-US" sz="1200"/>
              <a:t>higher purchase rates</a:t>
            </a:r>
            <a:r>
              <a:rPr lang="en-US" sz="1200"/>
              <a:t>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Certain categories contribute </a:t>
            </a:r>
            <a:r>
              <a:rPr b="1" lang="en-US" sz="1200"/>
              <a:t>disproportionately to total revenue</a:t>
            </a:r>
            <a:r>
              <a:rPr lang="en-US" sz="1200"/>
              <a:t>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Predictive modeling shows </a:t>
            </a:r>
            <a:r>
              <a:rPr b="1" lang="en-US" sz="1200"/>
              <a:t>engagement frequency</a:t>
            </a:r>
            <a:r>
              <a:rPr lang="en-US" sz="1200"/>
              <a:t> is the strongest purchase predictor.</a:t>
            </a:r>
            <a:endParaRPr sz="1200"/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"/>
          <p:cNvSpPr txBox="1"/>
          <p:nvPr>
            <p:ph idx="1" type="body"/>
          </p:nvPr>
        </p:nvSpPr>
        <p:spPr>
          <a:xfrm>
            <a:off x="4810000" y="1274525"/>
            <a:ext cx="4334100" cy="51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/>
              <a:t>Recommendations </a:t>
            </a:r>
            <a:endParaRPr b="1" sz="18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Prioritise </a:t>
            </a:r>
            <a:r>
              <a:rPr b="1" lang="en-US" sz="1200"/>
              <a:t>Footwear &amp; Outerwear</a:t>
            </a:r>
            <a:r>
              <a:rPr lang="en-US" sz="1200"/>
              <a:t> in targeted marketing campaigns.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Enhance </a:t>
            </a:r>
            <a:r>
              <a:rPr b="1" lang="en-US" sz="1200"/>
              <a:t>Accessories</a:t>
            </a:r>
            <a:r>
              <a:rPr lang="en-US" sz="1200"/>
              <a:t> listings (visuals, price competitiveness, bundles).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Promote </a:t>
            </a:r>
            <a:r>
              <a:rPr b="1" lang="en-US" sz="1200"/>
              <a:t>digital payment methods</a:t>
            </a:r>
            <a:r>
              <a:rPr lang="en-US" sz="1200"/>
              <a:t> with loyalty points or small cashback.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Use </a:t>
            </a:r>
            <a:r>
              <a:rPr b="1" lang="en-US" sz="1200"/>
              <a:t>upsell/cross-sell</a:t>
            </a:r>
            <a:r>
              <a:rPr lang="en-US" sz="1200"/>
              <a:t> strategies for low-AOV customers (Cash &amp; Venmo).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Align marketing with </a:t>
            </a:r>
            <a:r>
              <a:rPr b="1" lang="en-US" sz="1200"/>
              <a:t>seasonal demand peaks</a:t>
            </a:r>
            <a:r>
              <a:rPr lang="en-US" sz="1200"/>
              <a:t> (Accessories, Outerwear).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Target customers aged </a:t>
            </a:r>
            <a:r>
              <a:rPr b="1" lang="en-US" sz="1200"/>
              <a:t>25–40</a:t>
            </a:r>
            <a:r>
              <a:rPr lang="en-US" sz="1200"/>
              <a:t> with personalised offers.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Push popular high-revenue categories through retargeting ads.</a:t>
            </a:r>
            <a:br>
              <a:rPr lang="en-US" sz="1200"/>
            </a:br>
            <a:r>
              <a:rPr lang="en-US" sz="1200"/>
              <a:t>Strengthen loyalty programs to reward </a:t>
            </a:r>
            <a:r>
              <a:rPr b="1" lang="en-US" sz="1200"/>
              <a:t>digital payment</a:t>
            </a:r>
            <a:r>
              <a:rPr lang="en-US" sz="1200"/>
              <a:t> and </a:t>
            </a:r>
            <a:r>
              <a:rPr b="1" lang="en-US" sz="1200"/>
              <a:t>frequent buyers</a:t>
            </a:r>
            <a:r>
              <a:rPr lang="en-US" sz="1200"/>
              <a:t>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Re-engage high-frequency users early — they are most likely to convert again.</a:t>
            </a:r>
            <a:endParaRPr sz="1200"/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 flipH="1" rot="10800000">
            <a:off x="-2" y="0"/>
            <a:ext cx="6086479" cy="159074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0000">
                <a:srgbClr val="4F81BD">
                  <a:alpha val="0"/>
                </a:srgbClr>
              </a:gs>
              <a:gs pos="100000">
                <a:srgbClr val="24406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rgbClr val="4F81BD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244061">
                  <a:alpha val="51764"/>
                </a:srgbClr>
              </a:gs>
              <a:gs pos="100000">
                <a:srgbClr val="24406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 txBox="1"/>
          <p:nvPr>
            <p:ph type="title"/>
          </p:nvPr>
        </p:nvSpPr>
        <p:spPr>
          <a:xfrm>
            <a:off x="860999" y="203501"/>
            <a:ext cx="7422000" cy="10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>
                <a:solidFill>
                  <a:srgbClr val="FFFFFF"/>
                </a:solidFill>
              </a:rPr>
              <a:t>Agile Project Summary &amp; Reflection</a:t>
            </a:r>
            <a:endParaRPr/>
          </a:p>
        </p:txBody>
      </p:sp>
      <p:sp>
        <p:nvSpPr>
          <p:cNvPr id="326" name="Google Shape;326;p10"/>
          <p:cNvSpPr txBox="1"/>
          <p:nvPr>
            <p:ph idx="1" type="body"/>
          </p:nvPr>
        </p:nvSpPr>
        <p:spPr>
          <a:xfrm>
            <a:off x="684450" y="1806875"/>
            <a:ext cx="7293000" cy="10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 lnSpcReduction="20000"/>
          </a:bodyPr>
          <a:lstStyle/>
          <a:p>
            <a:pPr indent="-318611" lvl="0" marL="342900" rtl="0" algn="l">
              <a:spcBef>
                <a:spcPts val="0"/>
              </a:spcBef>
              <a:spcAft>
                <a:spcPts val="0"/>
              </a:spcAft>
              <a:buClr>
                <a:srgbClr val="DCDCDC"/>
              </a:buClr>
              <a:buSzPct val="100000"/>
              <a:buChar char="•"/>
            </a:pPr>
            <a:r>
              <a:rPr lang="en-US" sz="1700"/>
              <a:t>• Used GitHub Projects for Kanban-based tracking.</a:t>
            </a:r>
            <a:endParaRPr/>
          </a:p>
          <a:p>
            <a:pPr indent="-318611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700"/>
              <a:t>• Regular reflection &amp; problem-solving logged.</a:t>
            </a:r>
            <a:endParaRPr/>
          </a:p>
          <a:p>
            <a:pPr indent="-23495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700"/>
          </a:p>
          <a:p>
            <a:pPr indent="0" lvl="0" marL="342900" rtl="0" algn="l">
              <a:spcBef>
                <a:spcPts val="3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7" name="Google Shape;327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700" y="3050125"/>
            <a:ext cx="7878848" cy="259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 flipH="1" rot="10800000">
            <a:off x="-2" y="0"/>
            <a:ext cx="6086479" cy="159074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0000">
                <a:srgbClr val="4F81BD">
                  <a:alpha val="0"/>
                </a:srgbClr>
              </a:gs>
              <a:gs pos="100000">
                <a:srgbClr val="24406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rgbClr val="4F81BD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244061">
                  <a:alpha val="51764"/>
                </a:srgbClr>
              </a:gs>
              <a:gs pos="100000">
                <a:srgbClr val="24406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 txBox="1"/>
          <p:nvPr>
            <p:ph type="title"/>
          </p:nvPr>
        </p:nvSpPr>
        <p:spPr>
          <a:xfrm>
            <a:off x="1028699" y="294538"/>
            <a:ext cx="7421963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>
                <a:solidFill>
                  <a:srgbClr val="FFFFFF"/>
                </a:solidFill>
              </a:rPr>
              <a:t>Reflection &amp; Learning</a:t>
            </a:r>
            <a:endParaRPr/>
          </a:p>
        </p:txBody>
      </p:sp>
      <p:sp>
        <p:nvSpPr>
          <p:cNvPr id="339" name="Google Shape;339;p11"/>
          <p:cNvSpPr txBox="1"/>
          <p:nvPr>
            <p:ph idx="1" type="body"/>
          </p:nvPr>
        </p:nvSpPr>
        <p:spPr>
          <a:xfrm>
            <a:off x="1028699" y="2318197"/>
            <a:ext cx="7293023" cy="3683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DCDCDC"/>
              </a:buClr>
              <a:buSzPts val="1700"/>
              <a:buChar char="•"/>
            </a:pPr>
            <a:r>
              <a:rPr lang="en-US" sz="1700"/>
              <a:t>• Strengthened Python,  Jupyter Notebook (Numpy, Pandas, Matplotlib, Seaborn)and visualization skills.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• Gained experience with predictive analytics.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• Overcame challenges merging large datasets.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• Developed professional documentation and presentation workflow.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 flipH="1" rot="10800000">
            <a:off x="-2" y="0"/>
            <a:ext cx="6086479" cy="159074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0000">
                <a:srgbClr val="4F81BD">
                  <a:alpha val="0"/>
                </a:srgbClr>
              </a:gs>
              <a:gs pos="100000">
                <a:srgbClr val="24406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rgbClr val="4F81BD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244061">
                  <a:alpha val="51764"/>
                </a:srgbClr>
              </a:gs>
              <a:gs pos="100000">
                <a:srgbClr val="24406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 txBox="1"/>
          <p:nvPr>
            <p:ph type="title"/>
          </p:nvPr>
        </p:nvSpPr>
        <p:spPr>
          <a:xfrm>
            <a:off x="1028699" y="294538"/>
            <a:ext cx="7421963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>
                <a:solidFill>
                  <a:srgbClr val="FFFFFF"/>
                </a:solidFill>
              </a:rPr>
              <a:t>Conclusion &amp; Q&amp;A</a:t>
            </a:r>
            <a:endParaRPr/>
          </a:p>
        </p:txBody>
      </p:sp>
      <p:sp>
        <p:nvSpPr>
          <p:cNvPr id="351" name="Google Shape;351;p12"/>
          <p:cNvSpPr txBox="1"/>
          <p:nvPr>
            <p:ph idx="1" type="body"/>
          </p:nvPr>
        </p:nvSpPr>
        <p:spPr>
          <a:xfrm>
            <a:off x="1028699" y="2318197"/>
            <a:ext cx="7293023" cy="3683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DCDCDC"/>
              </a:buClr>
              <a:buSzPts val="1700"/>
              <a:buChar char="•"/>
            </a:pPr>
            <a:r>
              <a:rPr lang="en-US" sz="1700"/>
              <a:t>This project demonstrates an end-to-end E-commerce analytics workflow.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It provided actionable insights to optimize marketing, improve retention, and predict purchase behavior.</a:t>
            </a:r>
            <a:endParaRPr/>
          </a:p>
          <a:p>
            <a:pPr indent="-23495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